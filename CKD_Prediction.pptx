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61" r:id="rId1"/>
  </p:sldMasterIdLst>
  <p:notesMasterIdLst>
    <p:notesMasterId r:id="rId14"/>
  </p:notesMasterIdLst>
  <p:sldIdLst>
    <p:sldId id="256" r:id="rId2"/>
    <p:sldId id="265" r:id="rId3"/>
    <p:sldId id="257" r:id="rId4"/>
    <p:sldId id="277" r:id="rId5"/>
    <p:sldId id="270" r:id="rId6"/>
    <p:sldId id="271" r:id="rId7"/>
    <p:sldId id="282" r:id="rId8"/>
    <p:sldId id="284" r:id="rId9"/>
    <p:sldId id="283" r:id="rId10"/>
    <p:sldId id="274" r:id="rId11"/>
    <p:sldId id="285" r:id="rId12"/>
    <p:sldId id="28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802"/>
    <p:restoredTop sz="94662"/>
  </p:normalViewPr>
  <p:slideViewPr>
    <p:cSldViewPr snapToGrid="0" snapToObjects="1">
      <p:cViewPr varScale="1">
        <p:scale>
          <a:sx n="127" d="100"/>
          <a:sy n="127" d="100"/>
        </p:scale>
        <p:origin x="878" y="75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22" d="100"/>
          <a:sy n="122" d="100"/>
        </p:scale>
        <p:origin x="5072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240944-C49C-8D4E-8D36-E23FA8B56661}" type="datetimeFigureOut">
              <a:rPr lang="en-US" smtClean="0"/>
              <a:t>11/15/2022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63CFF4-6617-924B-AD6F-7641E061EC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9133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63CFF4-6617-924B-AD6F-7641E061EC5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312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ED951-0CAE-09E4-4DAA-79F2503155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ACB6A8-F737-4146-4B84-62DCBCDA80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2CE62E-87EF-12A2-B3A2-4C258B35C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82426-3472-C448-8A35-4FF56423A45A}" type="datetimeFigureOut">
              <a:rPr lang="en-US" smtClean="0"/>
              <a:t>11/15/2022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ED219F-B50D-C7F9-D3EC-F30A55689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3AA7F8-FDB2-760F-B158-99DEF05CC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D1458-0E1C-DF4B-9544-D6BB87306F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11623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9A976-65AF-1E17-1147-4F4EAC26A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D80EB8-1D1A-B663-7E3C-8226F18E63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CB05CB-4781-C82D-6E20-CA9A70182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82426-3472-C448-8A35-4FF56423A45A}" type="datetimeFigureOut">
              <a:rPr lang="en-US" smtClean="0"/>
              <a:t>11/15/2022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B74718-A8DB-8DF4-3648-6C5A7D93E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7200B1-B702-1B57-62AF-D2EE41DCB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D1458-0E1C-DF4B-9544-D6BB87306F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5085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EAB3B-5D6E-F831-526A-7FBEAE1A6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1B8ACF-1AF3-0542-296D-5B8ED1A997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ED3414-70E4-A6D7-26E1-9B945D5BA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82426-3472-C448-8A35-4FF56423A45A}" type="datetimeFigureOut">
              <a:rPr lang="en-US" smtClean="0"/>
              <a:t>11/15/2022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6B105A-78CE-9C13-3E7E-53B1C7786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F1F5CA-DC3E-873A-8EFE-123ABCCF7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D1458-0E1C-DF4B-9544-D6BB87306F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0381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EF049-96F9-2B18-7C4A-89FCABB20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0D50F2-8EF4-3E56-D747-418DB7C3CF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13B918-C99C-549D-0EB3-4B87D1651E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9E3D2E-D486-A6DB-FC9D-7DD07CD79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82426-3472-C448-8A35-4FF56423A45A}" type="datetimeFigureOut">
              <a:rPr lang="en-US" smtClean="0"/>
              <a:t>11/15/2022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4C484B-BEDB-1DA6-D004-AE4E926FE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B29784-A2B2-A88E-4A29-B55ED70FA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D1458-0E1C-DF4B-9544-D6BB87306F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00760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63E97-0683-56EF-C418-8C0FCA8AA0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C6D9E1-E902-25D8-15BF-9AD0ECE43C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996CC7-EB30-1EB2-6CF1-34A8FAD86C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9B8978-0F6B-B122-D409-288A48F4A8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A0F1EF-109D-54B1-92FC-38C2426C66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61AB579-82CE-FFB9-4A95-64BB92ABA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82426-3472-C448-8A35-4FF56423A45A}" type="datetimeFigureOut">
              <a:rPr lang="en-US" smtClean="0"/>
              <a:t>11/15/2022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CABC38-1960-5AD6-F002-C4A4142F6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00559A-6708-0612-C754-2C7667A05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D1458-0E1C-DF4B-9544-D6BB87306F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81266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5291B-DC1D-0574-661D-ED27DA4E5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79585D-D1A0-C14C-515D-9644C7EE5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82426-3472-C448-8A35-4FF56423A45A}" type="datetimeFigureOut">
              <a:rPr lang="en-US" smtClean="0"/>
              <a:t>11/15/2022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76EF39-264F-DE63-620D-5883756B7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D93BE3-0314-6F07-6643-7835999D7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D1458-0E1C-DF4B-9544-D6BB87306F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1306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BD94E6-9C49-DE68-F971-AD2301810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82426-3472-C448-8A35-4FF56423A45A}" type="datetimeFigureOut">
              <a:rPr lang="en-US" smtClean="0"/>
              <a:t>11/15/2022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21ADFC-A741-3D1A-857C-0090968D7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DCA157-F562-545C-3B72-15182686E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D1458-0E1C-DF4B-9544-D6BB87306F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8369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BFB11-D875-5FA2-1420-2FE75A78A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CB735E-ED87-C655-A9AA-195A5609F3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5DB557-5DCA-8904-972A-16076B4AA0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6B62E3-886C-9AD3-069A-B00081F70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82426-3472-C448-8A35-4FF56423A45A}" type="datetimeFigureOut">
              <a:rPr lang="en-US" smtClean="0"/>
              <a:t>11/15/2022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6CF611-E672-4B6E-5F9B-D145F2121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52C13E-3AE1-9B9E-12DE-9CE406A7C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D1458-0E1C-DF4B-9544-D6BB87306F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6647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DCA0F-5193-A07F-F124-3A6384E0B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2E8ED2-AF80-C107-7267-2F8093C4D6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B7447C-48D0-7103-692E-6163E3684D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AA0428-405B-07C3-BF88-407B5517E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82426-3472-C448-8A35-4FF56423A45A}" type="datetimeFigureOut">
              <a:rPr lang="en-US" smtClean="0"/>
              <a:t>11/15/2022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5D73A9-E338-82FB-CABF-16258C63F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E774DC-61D9-9FB6-2E84-A8F3E0C9E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D1458-0E1C-DF4B-9544-D6BB87306F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3659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F9E6A-76A3-93D9-6129-154CFF515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21B76D-B0CD-1773-0F0B-3E16E5BAF0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D63E8E-BE50-AB75-5B7A-C8C71CB06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82426-3472-C448-8A35-4FF56423A45A}" type="datetimeFigureOut">
              <a:rPr lang="en-US" smtClean="0"/>
              <a:t>11/15/2022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CBA337-422F-C243-09B9-B033FDE92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B166C3-028C-B197-4234-20F55C438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D1458-0E1C-DF4B-9544-D6BB87306F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0789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DDD2C3-8249-F1C9-44F1-D4BBBA8A1D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A7AB9A-7CA6-C46B-8F8D-B66AC6ECE4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57D4D5-6ACE-5AB8-0152-1C263B657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82426-3472-C448-8A35-4FF56423A45A}" type="datetimeFigureOut">
              <a:rPr lang="en-US" smtClean="0"/>
              <a:t>11/15/2022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6C2C42-30B4-3300-CA26-FEE165817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384EFB-4DB3-8499-6680-F89F30F0E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D1458-0E1C-DF4B-9544-D6BB87306F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71519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50B1FC-73B8-CFF5-F558-498FDB978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7EF7BD-F4EA-C833-EF87-0E9A544F6B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E9BA1F-08EC-1BAA-260D-8358DB2D8B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A82426-3472-C448-8A35-4FF56423A45A}" type="datetimeFigureOut">
              <a:rPr lang="en-US" smtClean="0"/>
              <a:t>11/15/2022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0E3159-40CC-EDA1-9BB4-2EE895B862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C5A62E-2FCE-BA96-197D-544F8E0380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CD1458-0E1C-DF4B-9544-D6BB87306F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167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62" r:id="rId1"/>
    <p:sldLayoutId id="2147484063" r:id="rId2"/>
    <p:sldLayoutId id="2147484064" r:id="rId3"/>
    <p:sldLayoutId id="2147484065" r:id="rId4"/>
    <p:sldLayoutId id="2147484066" r:id="rId5"/>
    <p:sldLayoutId id="2147484067" r:id="rId6"/>
    <p:sldLayoutId id="2147484068" r:id="rId7"/>
    <p:sldLayoutId id="2147484069" r:id="rId8"/>
    <p:sldLayoutId id="2147484070" r:id="rId9"/>
    <p:sldLayoutId id="2147484071" r:id="rId10"/>
    <p:sldLayoutId id="214748407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08100" y="1515380"/>
            <a:ext cx="8574622" cy="3449457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en-US" sz="8800" b="1" dirty="0">
                <a:ea typeface="Impact" charset="0"/>
                <a:cs typeface="Impact" charset="0"/>
              </a:rPr>
              <a:t>Chronic Kidney Disease Prediction</a:t>
            </a:r>
            <a:br>
              <a:rPr lang="en-US" sz="8000" dirty="0">
                <a:latin typeface="Impact" charset="0"/>
                <a:ea typeface="Impact" charset="0"/>
                <a:cs typeface="Impact" charset="0"/>
              </a:rPr>
            </a:br>
            <a:br>
              <a:rPr lang="en-US" sz="8000" dirty="0">
                <a:latin typeface="Impact" charset="0"/>
                <a:ea typeface="Impact" charset="0"/>
                <a:cs typeface="Impact" charset="0"/>
              </a:rPr>
            </a:br>
            <a:r>
              <a:rPr lang="en-US" sz="4000" b="1" dirty="0" err="1">
                <a:ea typeface="Impact" charset="0"/>
                <a:cs typeface="Impact" charset="0"/>
              </a:rPr>
              <a:t>Ipek</a:t>
            </a:r>
            <a:r>
              <a:rPr lang="en-US" sz="4000" b="1" dirty="0">
                <a:ea typeface="Impact" charset="0"/>
                <a:cs typeface="Impact" charset="0"/>
              </a:rPr>
              <a:t> Kizil</a:t>
            </a:r>
          </a:p>
        </p:txBody>
      </p:sp>
    </p:spTree>
    <p:extLst>
      <p:ext uri="{BB962C8B-B14F-4D97-AF65-F5344CB8AC3E}">
        <p14:creationId xmlns:p14="http://schemas.microsoft.com/office/powerpoint/2010/main" val="12030737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b="1" dirty="0">
                <a:ea typeface="Impact" charset="0"/>
                <a:cs typeface="Impact" charset="0"/>
              </a:rPr>
              <a:t>Overall Data Statistics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75743" y="1850264"/>
            <a:ext cx="6552336" cy="382905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4400" dirty="0">
                <a:ea typeface="Impact" charset="0"/>
                <a:cs typeface="Impact" charset="0"/>
              </a:rPr>
              <a:t>300 patients</a:t>
            </a:r>
          </a:p>
          <a:p>
            <a:pPr marL="0" indent="0">
              <a:buNone/>
            </a:pPr>
            <a:r>
              <a:rPr lang="en-US" sz="4400" dirty="0">
                <a:ea typeface="Impact" charset="0"/>
                <a:cs typeface="Impact" charset="0"/>
              </a:rPr>
              <a:t>5 different biomarker </a:t>
            </a:r>
          </a:p>
          <a:p>
            <a:pPr marL="0" indent="0">
              <a:buNone/>
            </a:pPr>
            <a:r>
              <a:rPr lang="en-US" sz="4400" dirty="0">
                <a:ea typeface="Impact" charset="0"/>
                <a:cs typeface="Impact" charset="0"/>
              </a:rPr>
              <a:t>lab measurements</a:t>
            </a:r>
          </a:p>
          <a:p>
            <a:pPr marL="0" indent="0">
              <a:buNone/>
            </a:pPr>
            <a:r>
              <a:rPr lang="en-US" sz="4400" dirty="0">
                <a:ea typeface="Impact" charset="0"/>
                <a:cs typeface="Impact" charset="0"/>
              </a:rPr>
              <a:t>21 different drug intake information</a:t>
            </a:r>
          </a:p>
          <a:p>
            <a:pPr marL="0" indent="0">
              <a:buNone/>
            </a:pPr>
            <a:r>
              <a:rPr lang="en-US" sz="4400" dirty="0">
                <a:ea typeface="Impact" charset="0"/>
                <a:cs typeface="Impact" charset="0"/>
              </a:rPr>
              <a:t>CKD progress statement</a:t>
            </a:r>
          </a:p>
        </p:txBody>
      </p:sp>
      <p:pic>
        <p:nvPicPr>
          <p:cNvPr id="7" name="Content Placeholder 6" descr="Table&#10;&#10;Description automatically generated with medium confidence">
            <a:extLst>
              <a:ext uri="{FF2B5EF4-FFF2-40B4-BE49-F238E27FC236}">
                <a16:creationId xmlns:a16="http://schemas.microsoft.com/office/drawing/2014/main" id="{AAE62020-6F45-3680-F410-63E122B987C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10959210" y="1956042"/>
            <a:ext cx="1003827" cy="4351338"/>
          </a:xfrm>
        </p:spPr>
      </p:pic>
      <p:pic>
        <p:nvPicPr>
          <p:cNvPr id="9" name="Picture 8" descr="Table">
            <a:extLst>
              <a:ext uri="{FF2B5EF4-FFF2-40B4-BE49-F238E27FC236}">
                <a16:creationId xmlns:a16="http://schemas.microsoft.com/office/drawing/2014/main" id="{A711D87A-00B7-88F2-8BC3-63DE74E44B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1381" y="1554143"/>
            <a:ext cx="4397829" cy="292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329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7200" b="1" dirty="0">
                <a:ea typeface="Impact" charset="0"/>
                <a:cs typeface="Impact" charset="0"/>
              </a:rPr>
              <a:t>Patient Statistics </a:t>
            </a:r>
          </a:p>
        </p:txBody>
      </p:sp>
      <p:pic>
        <p:nvPicPr>
          <p:cNvPr id="10" name="Content Placeholder 9" descr="Chart, bar chart">
            <a:extLst>
              <a:ext uri="{FF2B5EF4-FFF2-40B4-BE49-F238E27FC236}">
                <a16:creationId xmlns:a16="http://schemas.microsoft.com/office/drawing/2014/main" id="{39AC6157-2667-64C3-C9C2-8063AF30436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93591" y="1821288"/>
            <a:ext cx="3455931" cy="3124200"/>
          </a:xfrm>
        </p:spPr>
      </p:pic>
      <p:pic>
        <p:nvPicPr>
          <p:cNvPr id="12" name="Content Placeholder 11" descr="Chart, bar chart&#10;&#10;Description automatically generated">
            <a:extLst>
              <a:ext uri="{FF2B5EF4-FFF2-40B4-BE49-F238E27FC236}">
                <a16:creationId xmlns:a16="http://schemas.microsoft.com/office/drawing/2014/main" id="{6FA85DA4-38A7-ED96-9C2A-5AADA0A37F7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8457127" y="2006421"/>
            <a:ext cx="4010068" cy="3124200"/>
          </a:xfrm>
        </p:spPr>
      </p:pic>
      <p:pic>
        <p:nvPicPr>
          <p:cNvPr id="16" name="Picture 15" descr="A picture containing text">
            <a:extLst>
              <a:ext uri="{FF2B5EF4-FFF2-40B4-BE49-F238E27FC236}">
                <a16:creationId xmlns:a16="http://schemas.microsoft.com/office/drawing/2014/main" id="{8A312152-34F2-E7BE-BB75-A1BFC05FAC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4703" y="2006420"/>
            <a:ext cx="3702594" cy="3012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5433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b="1" dirty="0">
                <a:ea typeface="Impact" charset="0"/>
                <a:cs typeface="Impact" charset="0"/>
              </a:rPr>
              <a:t>Features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913347" y="1914402"/>
            <a:ext cx="10018713" cy="4215384"/>
          </a:xfrm>
        </p:spPr>
        <p:txBody>
          <a:bodyPr anchor="t">
            <a:noAutofit/>
          </a:bodyPr>
          <a:lstStyle/>
          <a:p>
            <a:pPr marL="457200" marR="0" lvl="0" indent="-4572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sz="3600" dirty="0">
                <a:ea typeface="Impact" charset="0"/>
                <a:cs typeface="Impact" charset="0"/>
              </a:rPr>
              <a:t>Time in days </a:t>
            </a:r>
          </a:p>
          <a:p>
            <a:pPr marL="457200" marR="0" lvl="0" indent="-4572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sz="3600" dirty="0">
                <a:ea typeface="Impact" charset="0"/>
                <a:cs typeface="Impact" charset="0"/>
              </a:rPr>
              <a:t>Patient’s  biomarkers measured at the corresponding time </a:t>
            </a:r>
            <a:r>
              <a:rPr lang="en-US" sz="3200" dirty="0">
                <a:ea typeface="Impact" charset="0"/>
                <a:cs typeface="Impact" charset="0"/>
              </a:rPr>
              <a:t>(creatinine, diastolic blood pressure, systolic blood pressure, hemoglobin level, glucose, low-density lipoprotein )</a:t>
            </a:r>
          </a:p>
          <a:p>
            <a:pPr marL="457200" lvl="0" indent="-457200" defTabSz="914400"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lang="en-US" sz="3600" dirty="0"/>
              <a:t>Whether patient progress in the CKD stage or not </a:t>
            </a:r>
          </a:p>
          <a:p>
            <a:pPr marL="457200" marR="0" lvl="0" indent="-4572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239041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3041" y="361253"/>
            <a:ext cx="10018713" cy="1752599"/>
          </a:xfrm>
        </p:spPr>
        <p:txBody>
          <a:bodyPr>
            <a:noAutofit/>
          </a:bodyPr>
          <a:lstStyle/>
          <a:p>
            <a:r>
              <a:rPr lang="en-US" sz="7200" b="1" dirty="0">
                <a:ea typeface="Impact" charset="0"/>
                <a:cs typeface="Impact" charset="0"/>
              </a:rPr>
              <a:t>Data Preprocessing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049A50-D919-5BA6-22DA-8AFDA2C883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Interpolation</a:t>
            </a:r>
          </a:p>
          <a:p>
            <a:pPr lvl="1"/>
            <a:r>
              <a:rPr lang="en-US" dirty="0"/>
              <a:t>Data points occurs at the irregular time points. Thus, I have used forward linear interpolation to standardize the data for machine learning algorithms </a:t>
            </a:r>
          </a:p>
          <a:p>
            <a:r>
              <a:rPr lang="en-US" dirty="0"/>
              <a:t>Data normalization </a:t>
            </a:r>
          </a:p>
          <a:p>
            <a:pPr lvl="1"/>
            <a:r>
              <a:rPr lang="en-US" dirty="0"/>
              <a:t>Different features had different magnitudes. Thus, I have standardized the data by using min-max scaling approach.</a:t>
            </a:r>
          </a:p>
          <a:p>
            <a:r>
              <a:rPr lang="en-US" dirty="0"/>
              <a:t>Train test split </a:t>
            </a:r>
          </a:p>
          <a:p>
            <a:pPr lvl="1"/>
            <a:r>
              <a:rPr lang="en-US" dirty="0"/>
              <a:t>I’ve </a:t>
            </a:r>
            <a:r>
              <a:rPr lang="en-US" dirty="0" err="1"/>
              <a:t>splited</a:t>
            </a:r>
            <a:r>
              <a:rPr lang="en-US" dirty="0"/>
              <a:t> data into training and test with non-overlapping patient ids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35236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9154" y="502920"/>
            <a:ext cx="10018713" cy="1752599"/>
          </a:xfrm>
        </p:spPr>
        <p:txBody>
          <a:bodyPr>
            <a:noAutofit/>
          </a:bodyPr>
          <a:lstStyle/>
          <a:p>
            <a:r>
              <a:rPr lang="en-US" sz="7200" b="1" dirty="0">
                <a:ea typeface="Impact" charset="0"/>
                <a:cs typeface="Impact" charset="0"/>
              </a:rPr>
              <a:t>Approach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21AEDDC-E3AD-C7E8-6216-18436BDCFA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9716" y="2000567"/>
            <a:ext cx="10515600" cy="4351338"/>
          </a:xfrm>
        </p:spPr>
        <p:txBody>
          <a:bodyPr/>
          <a:lstStyle/>
          <a:p>
            <a:pPr algn="l"/>
            <a:r>
              <a:rPr lang="en-US" dirty="0"/>
              <a:t>To </a:t>
            </a:r>
            <a:r>
              <a:rPr lang="en-US" b="0" i="0" u="none" strike="noStrike" baseline="0" dirty="0"/>
              <a:t>predict whether a patient will progress in CKD staging given their past longitudinal information, I followed two approaches</a:t>
            </a:r>
            <a:r>
              <a:rPr lang="en-US" sz="1800" dirty="0">
                <a:latin typeface="TimesNewRomanPSMT"/>
              </a:rPr>
              <a:t>:</a:t>
            </a:r>
            <a:endParaRPr lang="en-US" sz="1800" b="0" i="0" u="none" strike="noStrike" baseline="0" dirty="0">
              <a:latin typeface="TimesNewRomanPSMT"/>
            </a:endParaRPr>
          </a:p>
          <a:p>
            <a:pPr lvl="1"/>
            <a:r>
              <a:rPr lang="en-US" dirty="0"/>
              <a:t>First approach, I extracted features from the longitudinal data for each patient as time series and applied standard LSTM. </a:t>
            </a:r>
          </a:p>
          <a:p>
            <a:pPr lvl="1"/>
            <a:r>
              <a:rPr lang="en-US" dirty="0"/>
              <a:t>Second approach, in addition to first approach I added static data to the last state of LSTM before classification.</a:t>
            </a:r>
          </a:p>
        </p:txBody>
      </p:sp>
    </p:spTree>
    <p:extLst>
      <p:ext uri="{BB962C8B-B14F-4D97-AF65-F5344CB8AC3E}">
        <p14:creationId xmlns:p14="http://schemas.microsoft.com/office/powerpoint/2010/main" val="10907190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34233"/>
            <a:ext cx="10018713" cy="1752599"/>
          </a:xfrm>
        </p:spPr>
        <p:txBody>
          <a:bodyPr>
            <a:noAutofit/>
          </a:bodyPr>
          <a:lstStyle/>
          <a:p>
            <a:r>
              <a:rPr lang="en-US" sz="7200" b="1" dirty="0">
                <a:latin typeface="Calibri Light (Headings)"/>
                <a:ea typeface="Impact" charset="0"/>
                <a:cs typeface="Impact" charset="0"/>
              </a:rPr>
              <a:t>Approach (Cont.)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21AEDDC-E3AD-C7E8-6216-18436BDCFA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Since the data has the time series characteristics, I have used RNN/LSTM.</a:t>
            </a:r>
          </a:p>
          <a:p>
            <a:r>
              <a:rPr lang="en-US" dirty="0"/>
              <a:t>Since the time dimension is very high, e.g. 700, I have used LSTM which overcomes the gradient vanishing and exploding problems. </a:t>
            </a:r>
          </a:p>
          <a:p>
            <a:r>
              <a:rPr lang="en-US" dirty="0"/>
              <a:t>Model characteristics: </a:t>
            </a:r>
          </a:p>
          <a:p>
            <a:pPr lvl="1"/>
            <a:r>
              <a:rPr lang="en-US" dirty="0"/>
              <a:t>Average pooling with window size k.</a:t>
            </a:r>
          </a:p>
          <a:p>
            <a:pPr lvl="1"/>
            <a:r>
              <a:rPr lang="en-US" dirty="0"/>
              <a:t>2-layer LSTM where each layer is followed by a layer normalization. </a:t>
            </a:r>
          </a:p>
          <a:p>
            <a:pPr lvl="1"/>
            <a:r>
              <a:rPr lang="en-US" dirty="0"/>
              <a:t>The last LSTM state is fed into a classification layer. </a:t>
            </a:r>
          </a:p>
          <a:p>
            <a:pPr lvl="1"/>
            <a:r>
              <a:rPr lang="en-US" dirty="0"/>
              <a:t>Each LSTM layer includes dropout to reduce overfitting.  </a:t>
            </a:r>
          </a:p>
        </p:txBody>
      </p:sp>
    </p:spTree>
    <p:extLst>
      <p:ext uri="{BB962C8B-B14F-4D97-AF65-F5344CB8AC3E}">
        <p14:creationId xmlns:p14="http://schemas.microsoft.com/office/powerpoint/2010/main" val="42401407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76879-42BC-950F-B7C7-87227EE8F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b="1" dirty="0"/>
              <a:t>Training</a:t>
            </a:r>
            <a:endParaRPr lang="en-SG" sz="6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0A9B29-B8E7-AC38-8EEE-8F05D44101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have used binary cross entropy loss as training objective</a:t>
            </a:r>
          </a:p>
          <a:p>
            <a:r>
              <a:rPr lang="en-US" dirty="0"/>
              <a:t>Due to class imbalance, weighting for each class is used.</a:t>
            </a:r>
          </a:p>
          <a:p>
            <a:r>
              <a:rPr lang="en-SG" dirty="0"/>
              <a:t>Adam optimizer with learning rate 0.001 is used.</a:t>
            </a:r>
          </a:p>
          <a:p>
            <a:r>
              <a:rPr lang="en-SG" dirty="0"/>
              <a:t>Weight decay with 0.0001 weight has been used to reduce overfitting.</a:t>
            </a:r>
          </a:p>
          <a:p>
            <a:r>
              <a:rPr lang="en-SG" dirty="0"/>
              <a:t>Early stopping is used to end training when training objective does not improve for 5 epochs.</a:t>
            </a:r>
          </a:p>
          <a:p>
            <a:r>
              <a:rPr lang="en-SG" dirty="0"/>
              <a:t>Max epoch is 100, mini-batch size is 64.</a:t>
            </a:r>
          </a:p>
        </p:txBody>
      </p:sp>
    </p:spTree>
    <p:extLst>
      <p:ext uri="{BB962C8B-B14F-4D97-AF65-F5344CB8AC3E}">
        <p14:creationId xmlns:p14="http://schemas.microsoft.com/office/powerpoint/2010/main" val="1251729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1CDCA-25A4-5948-82D6-0B152149F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600" b="1" dirty="0"/>
              <a:t>Evaluation Setting</a:t>
            </a:r>
            <a:endParaRPr lang="en-SG" sz="6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289E2E-AA80-BA6B-4257-DC6F7E35C0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have used k-fold cross validation (k=5). All the results are average over each iteration.</a:t>
            </a:r>
          </a:p>
          <a:p>
            <a:r>
              <a:rPr lang="en-US" dirty="0"/>
              <a:t>Metrics for evaluation: Accuracy, Precision and Recall</a:t>
            </a:r>
          </a:p>
          <a:p>
            <a:pPr lvl="1"/>
            <a:r>
              <a:rPr lang="en-US" dirty="0"/>
              <a:t>I have used precision and recall additional to accuracy since there is a data imbalance.</a:t>
            </a:r>
          </a:p>
          <a:p>
            <a:pPr lvl="1"/>
            <a:r>
              <a:rPr lang="en-US" dirty="0"/>
              <a:t>Precision and Recall is evaluated for class 1 which shows that patient’s chronic kidney disease will progress.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2487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7200" b="1" dirty="0">
                <a:ea typeface="Impact" charset="0"/>
                <a:cs typeface="Impact" charset="0"/>
              </a:rPr>
              <a:t>Results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9363A6-924D-F98D-D992-87FFEB1D3E8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 Setting: Only Biomarkers</a:t>
            </a:r>
          </a:p>
          <a:p>
            <a:endParaRPr lang="en-US" dirty="0"/>
          </a:p>
          <a:p>
            <a:r>
              <a:rPr lang="en-US" sz="2600" dirty="0"/>
              <a:t>average accuracy cross-validation 0.69</a:t>
            </a:r>
          </a:p>
          <a:p>
            <a:r>
              <a:rPr lang="en-US" sz="2600" dirty="0"/>
              <a:t>average precision cross-validation 0.53</a:t>
            </a:r>
          </a:p>
          <a:p>
            <a:r>
              <a:rPr lang="en-US" sz="2600" dirty="0"/>
              <a:t>average recall cross-validation 0.64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D5E8BA-BDF3-5578-A71C-3541E046E70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 Setting: Biomarkers + Medication History</a:t>
            </a:r>
          </a:p>
          <a:p>
            <a:r>
              <a:rPr lang="en-US" sz="2600" dirty="0"/>
              <a:t>average accuracy cross-validation 0.64</a:t>
            </a:r>
          </a:p>
          <a:p>
            <a:r>
              <a:rPr lang="en-US" sz="2600" dirty="0"/>
              <a:t>average precision cross-validation 0.48</a:t>
            </a:r>
          </a:p>
          <a:p>
            <a:r>
              <a:rPr lang="en-US" sz="2600" dirty="0"/>
              <a:t>average recall cross-validation 0.53</a:t>
            </a:r>
          </a:p>
        </p:txBody>
      </p:sp>
    </p:spTree>
    <p:extLst>
      <p:ext uri="{BB962C8B-B14F-4D97-AF65-F5344CB8AC3E}">
        <p14:creationId xmlns:p14="http://schemas.microsoft.com/office/powerpoint/2010/main" val="14158763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7200" b="1" dirty="0">
                <a:ea typeface="Impact" charset="0"/>
                <a:cs typeface="Impact" charset="0"/>
              </a:rPr>
              <a:t>Results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9363A6-924D-F98D-D992-87FFEB1D3E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334000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Data Setting: Biomarkers + Medication History</a:t>
            </a:r>
            <a:r>
              <a:rPr lang="en-US" sz="2600" dirty="0"/>
              <a:t> + Patient Features</a:t>
            </a:r>
          </a:p>
          <a:p>
            <a:endParaRPr lang="en-US" sz="2600" dirty="0"/>
          </a:p>
          <a:p>
            <a:r>
              <a:rPr lang="en-US" dirty="0"/>
              <a:t>average accuracy cross-validation 0.63</a:t>
            </a:r>
          </a:p>
          <a:p>
            <a:r>
              <a:rPr lang="en-US" dirty="0"/>
              <a:t>average precision cross-validation 0.47</a:t>
            </a:r>
          </a:p>
          <a:p>
            <a:r>
              <a:rPr lang="en-US" dirty="0"/>
              <a:t>average recall cross-validation 0.51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644C86E-1923-B0CC-1FE9-7625D809BB9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143465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76879-42BC-950F-B7C7-87227EE8F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b="1" dirty="0"/>
              <a:t>Conclusion</a:t>
            </a:r>
            <a:endParaRPr lang="en-SG" sz="6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0A9B29-B8E7-AC38-8EEE-8F05D44101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results are only xxx percent better than chance level. </a:t>
            </a:r>
          </a:p>
          <a:p>
            <a:r>
              <a:rPr lang="en-US" dirty="0"/>
              <a:t>The main problem is overfitting due to lack of data</a:t>
            </a:r>
            <a:r>
              <a:rPr lang="en-SG" dirty="0"/>
              <a:t>. </a:t>
            </a:r>
          </a:p>
          <a:p>
            <a:r>
              <a:rPr lang="en-SG" dirty="0"/>
              <a:t>Data imbalance makes this problem even harder.</a:t>
            </a:r>
          </a:p>
          <a:p>
            <a:r>
              <a:rPr lang="en-SG" dirty="0"/>
              <a:t>Irregularly spaced time series is another challenge to deal with. </a:t>
            </a:r>
          </a:p>
          <a:p>
            <a:pPr marL="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4119277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13744</TotalTime>
  <Words>523</Words>
  <Application>Microsoft Office PowerPoint</Application>
  <PresentationFormat>Widescreen</PresentationFormat>
  <Paragraphs>65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Calibri Light</vt:lpstr>
      <vt:lpstr>Calibri Light (Headings)</vt:lpstr>
      <vt:lpstr>Impact</vt:lpstr>
      <vt:lpstr>TimesNewRomanPSMT</vt:lpstr>
      <vt:lpstr>Office Theme</vt:lpstr>
      <vt:lpstr>Chronic Kidney Disease Prediction  Ipek Kizil</vt:lpstr>
      <vt:lpstr>Overall Data Statistics</vt:lpstr>
      <vt:lpstr>Patient Statistics </vt:lpstr>
      <vt:lpstr>Features</vt:lpstr>
      <vt:lpstr>Data Preprocessing </vt:lpstr>
      <vt:lpstr>Approach</vt:lpstr>
      <vt:lpstr>Approach (Cont.)</vt:lpstr>
      <vt:lpstr>Training</vt:lpstr>
      <vt:lpstr>Evaluation Setting</vt:lpstr>
      <vt:lpstr>Results </vt:lpstr>
      <vt:lpstr>Results 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NYC Taxi Data</dc:title>
  <dc:creator>Abhishek Das</dc:creator>
  <cp:lastModifiedBy>Yasin YAZICI</cp:lastModifiedBy>
  <cp:revision>78</cp:revision>
  <cp:lastPrinted>2017-12-04T06:08:58Z</cp:lastPrinted>
  <dcterms:created xsi:type="dcterms:W3CDTF">2017-11-01T04:09:18Z</dcterms:created>
  <dcterms:modified xsi:type="dcterms:W3CDTF">2022-11-18T02:11:44Z</dcterms:modified>
</cp:coreProperties>
</file>